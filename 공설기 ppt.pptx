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2" r:id="rId4"/>
    <p:sldId id="282" r:id="rId5"/>
    <p:sldId id="283" r:id="rId6"/>
    <p:sldId id="263" r:id="rId7"/>
    <p:sldId id="284" r:id="rId8"/>
    <p:sldId id="285" r:id="rId9"/>
    <p:sldId id="286" r:id="rId10"/>
    <p:sldId id="287" r:id="rId11"/>
    <p:sldId id="288" r:id="rId12"/>
    <p:sldId id="276" r:id="rId13"/>
    <p:sldId id="277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D600"/>
    <a:srgbClr val="FFFF66"/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5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21E25D5-6F3F-48A5-905F-87868E8661E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2020-12-06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1AD3C92-A668-46E2-BD12-7619418964CA}" type="datetime1">
              <a:rPr lang="ko-KR" altLang="en-US" smtClean="0"/>
              <a:t>2020-12-06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FC40A10-6036-4879-816D-55C01FC94846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33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181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217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286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40A10-6036-4879-816D-55C01FC94846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01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522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40A10-6036-4879-816D-55C01FC94846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141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40A10-6036-4879-816D-55C01FC94846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128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40A10-6036-4879-816D-55C01FC94846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558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C40A10-6036-4879-816D-55C01FC94846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57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594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248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로고가 있는 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4400693" y="2253996"/>
            <a:ext cx="3356133" cy="100584"/>
            <a:chOff x="4413120" y="2253996"/>
            <a:chExt cx="3356133" cy="10058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4413120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4483844" y="2307679"/>
              <a:ext cx="3186659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766866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463107" y="5305363"/>
            <a:ext cx="3295769" cy="100584"/>
            <a:chOff x="3301652" y="2253996"/>
            <a:chExt cx="5740765" cy="10058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301652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8" name="직선 연결선(S)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316126" y="2307679"/>
              <a:ext cx="5686139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86683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포함 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피치</a:t>
            </a:r>
            <a:br>
              <a:rPr lang="ko-KR" altLang="en-US" noProof="0" dirty="0"/>
            </a:br>
            <a:r>
              <a:rPr lang="ko-KR" altLang="en-US" noProof="0" dirty="0" err="1"/>
              <a:t>데크</a:t>
            </a:r>
            <a:br>
              <a:rPr lang="ko-KR" altLang="en-US" noProof="0" dirty="0"/>
            </a:br>
            <a:r>
              <a:rPr lang="ko-KR" altLang="en-US" noProof="0" dirty="0"/>
              <a:t>제목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1539640" cy="102440"/>
            <a:chOff x="3631690" y="2252140"/>
            <a:chExt cx="2681834" cy="10244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" name="직선 연결선(S)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2530907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6137945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1561682" cy="100584"/>
            <a:chOff x="3631690" y="2253996"/>
            <a:chExt cx="2720225" cy="10058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" name="직선 연결선(S)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2631537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6176336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부제목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18" name="그림 개체 틀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828466" cy="100800"/>
            <a:chOff x="0" y="3240138"/>
            <a:chExt cx="2828466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78275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72766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그림 개체 틀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, 이미지 및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그림 개체 틀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콘텐츠 레이아웃 버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2872534" cy="100800"/>
            <a:chOff x="0" y="3240138"/>
            <a:chExt cx="2872534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78726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771734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3" name="그림 개체 틀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아이콘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텍스트 스타일 편집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4" name="그림 개체 틀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텍스트 스타일 편집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7" name="그림 개체 틀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텍스트 스타일 편집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0" name="그림 개체 틀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니터 및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1781869" cy="100800"/>
            <a:chOff x="0" y="3240138"/>
            <a:chExt cx="1781869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170761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681069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 rtl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그림을 추가하려면 아이콘을 클릭하세요</a:t>
            </a:r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5377787" y="1373283"/>
            <a:ext cx="1436427" cy="100800"/>
            <a:chOff x="3402869" y="1373283"/>
            <a:chExt cx="1436427" cy="10080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3467415" y="1373283"/>
              <a:ext cx="1371881" cy="100800"/>
              <a:chOff x="317937" y="3237441"/>
              <a:chExt cx="1371881" cy="100800"/>
            </a:xfrm>
          </p:grpSpPr>
          <p:cxnSp>
            <p:nvCxnSpPr>
              <p:cNvPr id="13" name="직선 연결선(S)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317937" y="3290538"/>
                <a:ext cx="1311007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158901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ko-KR" altLang="en-US" noProof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3402869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 가지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490267" y="1375202"/>
            <a:ext cx="3701733" cy="100800"/>
            <a:chOff x="304632" y="3240138"/>
            <a:chExt cx="2311235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229651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550143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1</a:t>
            </a:r>
            <a:endParaRPr lang="ko-KR" altLang="en-US" noProof="0" dirty="0"/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</a:t>
            </a:r>
            <a:endParaRPr lang="ko-KR" altLang="en-US" noProof="0" dirty="0"/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8" name="텍스트 개체 틀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3</a:t>
            </a:r>
            <a:endParaRPr lang="ko-KR" altLang="en-US" noProof="0" dirty="0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21" name="직선 연결선(S)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(S)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숫자 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 rtl="0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₩</a:t>
            </a:r>
            <a:r>
              <a:rPr lang="en-US" altLang="ko-KR" noProof="0" dirty="0"/>
              <a:t>12,345</a:t>
            </a:r>
            <a:endParaRPr lang="ko-KR" altLang="en-US" noProof="0" dirty="0"/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 rtl="0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₩</a:t>
            </a:r>
            <a:r>
              <a:rPr lang="en-US" altLang="ko-KR" noProof="0" dirty="0"/>
              <a:t>6,789</a:t>
            </a:r>
            <a:endParaRPr lang="ko-KR" altLang="en-US" noProof="0" dirty="0"/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원이 있는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2806004" cy="100800"/>
            <a:chOff x="-1228304" y="3240138"/>
            <a:chExt cx="2806004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277130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4769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텍스트 개체 틀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₩</a:t>
            </a:r>
            <a:r>
              <a:rPr lang="en-US" altLang="ko-KR" noProof="0" dirty="0"/>
              <a:t>25</a:t>
            </a:r>
            <a:endParaRPr lang="ko-KR" altLang="en-US" noProof="0" dirty="0"/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1</a:t>
            </a:r>
            <a:br>
              <a:rPr lang="ko-KR" altLang="en-US" noProof="0" dirty="0"/>
            </a:br>
            <a:r>
              <a:rPr lang="ko-KR" altLang="en-US" noProof="0" dirty="0"/>
              <a:t>제목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ko-KR" noProof="0" dirty="0"/>
              <a:t>10</a:t>
            </a:r>
            <a:r>
              <a:rPr lang="ko-KR" altLang="en-US" noProof="0" dirty="0"/>
              <a:t>억</a:t>
            </a:r>
          </a:p>
        </p:txBody>
      </p:sp>
      <p:sp>
        <p:nvSpPr>
          <p:cNvPr id="30" name="텍스트 개체 틀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₩</a:t>
            </a:r>
            <a:r>
              <a:rPr lang="en-US" altLang="ko-KR" noProof="0" dirty="0"/>
              <a:t>50</a:t>
            </a:r>
            <a:endParaRPr lang="ko-KR" altLang="en-US" noProof="0" dirty="0"/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1</a:t>
            </a:r>
            <a:br>
              <a:rPr lang="ko-KR" altLang="en-US" noProof="0" dirty="0"/>
            </a:br>
            <a:r>
              <a:rPr lang="ko-KR" altLang="en-US" noProof="0" dirty="0"/>
              <a:t>제목</a:t>
            </a: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ko-KR" noProof="0" dirty="0"/>
              <a:t>10</a:t>
            </a:r>
            <a:r>
              <a:rPr lang="ko-KR" altLang="en-US" noProof="0" dirty="0"/>
              <a:t>억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 rtl="0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₩</a:t>
            </a:r>
            <a:r>
              <a:rPr lang="en-US" altLang="ko-KR" noProof="0" dirty="0"/>
              <a:t>100</a:t>
            </a:r>
            <a:endParaRPr lang="ko-KR" altLang="en-US" noProof="0" dirty="0"/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1</a:t>
            </a:r>
            <a:br>
              <a:rPr lang="ko-KR" altLang="en-US" noProof="0" dirty="0"/>
            </a:br>
            <a:r>
              <a:rPr lang="ko-KR" altLang="en-US" noProof="0" dirty="0"/>
              <a:t>제목</a:t>
            </a:r>
          </a:p>
        </p:txBody>
      </p: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ko-KR" noProof="0" dirty="0"/>
              <a:t>10</a:t>
            </a:r>
            <a:r>
              <a:rPr lang="ko-KR" altLang="en-US" noProof="0" dirty="0"/>
              <a:t>억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제목이 있는 두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제목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4243"/>
            <a:ext cx="2930937" cy="100800"/>
            <a:chOff x="646012" y="3239179"/>
            <a:chExt cx="1494194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143780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088818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그림 개체 틀 11" descr="경쟁 업체 로고 사분면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2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2" name="그림 개체 틀 11" descr="경쟁 업체 로고 사분면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1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5" name="그림 개체 틀 11" descr="경쟁 업체 로고 사분면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3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6" name="그림 개체 틀 11" descr="경쟁 업체 로고 사분면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4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7" name="그림 개체 틀 11" descr="경쟁 업체 로고 사분면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5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8" name="그림 개체 틀 11" descr="경쟁 업체 로고 사분면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경쟁 업체 </a:t>
            </a:r>
            <a:r>
              <a:rPr lang="en-US" altLang="ko-KR" noProof="0" dirty="0"/>
              <a:t>6</a:t>
            </a:r>
          </a:p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29" name="텍스트 개체 틀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ko-KR" altLang="en-US" noProof="0" dirty="0"/>
              <a:t>고비용</a:t>
            </a:r>
          </a:p>
        </p:txBody>
      </p:sp>
      <p:sp>
        <p:nvSpPr>
          <p:cNvPr id="30" name="텍스트 개체 틀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ko-KR" altLang="en-US" noProof="0" dirty="0"/>
              <a:t>덜 편리함</a:t>
            </a:r>
          </a:p>
        </p:txBody>
      </p:sp>
      <p:sp>
        <p:nvSpPr>
          <p:cNvPr id="31" name="텍스트 개체 틀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ko-KR" altLang="en-US" noProof="0" dirty="0"/>
              <a:t>더 편리함</a:t>
            </a:r>
          </a:p>
        </p:txBody>
      </p:sp>
      <p:sp>
        <p:nvSpPr>
          <p:cNvPr id="32" name="그림 개체 틀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3" name="텍스트 개체 틀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ko-KR" altLang="en-US" noProof="0" dirty="0"/>
              <a:t>저비용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직선 연결선(S)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직선 연결선(S)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개 섹션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1774293" cy="100800"/>
            <a:chOff x="0" y="3240138"/>
            <a:chExt cx="1774293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169659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673493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1</a:t>
            </a:r>
            <a:endParaRPr lang="ko-KR" altLang="en-US" noProof="0" dirty="0"/>
          </a:p>
        </p:txBody>
      </p:sp>
      <p:sp>
        <p:nvSpPr>
          <p:cNvPr id="22" name="텍스트 개체 틀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</a:t>
            </a:r>
            <a:endParaRPr lang="ko-KR" altLang="en-US" noProof="0" dirty="0"/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3</a:t>
            </a:r>
            <a:endParaRPr lang="ko-KR" altLang="en-US" noProof="0" dirty="0"/>
          </a:p>
        </p:txBody>
      </p:sp>
      <p:cxnSp>
        <p:nvCxnSpPr>
          <p:cNvPr id="24" name="직선 연결선(S)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(S)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0" name="텍스트 개체 틀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3" name="텍스트 개체 틀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4" name="텍스트 개체 틀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5" name="텍스트 개체 틀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6" name="텍스트 개체 틀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7" name="텍스트 개체 틀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8" name="텍스트 개체 틀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 및 차트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제목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간 표시줄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시간 표시줄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987923" y="1375202"/>
            <a:ext cx="3204079" cy="100800"/>
            <a:chOff x="2729179" y="3240138"/>
            <a:chExt cx="1633436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79" y="3290538"/>
              <a:ext cx="162126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311227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20XX</a:t>
            </a:r>
            <a:endParaRPr lang="ko-KR" altLang="en-US" noProof="0" dirty="0"/>
          </a:p>
        </p:txBody>
      </p:sp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텍스트 개체 틀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3" name="텍스트 개체 틀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0" name="텍스트 개체 틀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20XX</a:t>
            </a:r>
            <a:endParaRPr lang="ko-KR" altLang="en-US" noProof="0" dirty="0"/>
          </a:p>
        </p:txBody>
      </p:sp>
      <p:sp>
        <p:nvSpPr>
          <p:cNvPr id="41" name="텍스트 개체 틀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20XX</a:t>
            </a:r>
            <a:endParaRPr lang="ko-KR" altLang="en-US" noProof="0" dirty="0"/>
          </a:p>
        </p:txBody>
      </p:sp>
      <p:sp>
        <p:nvSpPr>
          <p:cNvPr id="42" name="텍스트 개체 틀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20XX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1770701" cy="100800"/>
            <a:chOff x="-1228304" y="3240138"/>
            <a:chExt cx="1770701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169659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44159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표 개체 틀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 rtl="0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그림을 추가하려면 아이콘을 클릭하세요</a:t>
            </a:r>
            <a:r>
              <a:rPr lang="en-US" altLang="ko-KR" noProof="0" dirty="0"/>
              <a:t>.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1751266" cy="100800"/>
            <a:chOff x="0" y="3240138"/>
            <a:chExt cx="1751266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165253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65046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0" name="텍스트 개체 틀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5" name="그림 개체 틀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6" name="그림 개체 틀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1" name="텍스트 개체 틀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2" name="텍스트 개체 틀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9" name="텍스트 개체 틀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32" name="직선 연결선(S)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(S)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콘텐츠 레이아웃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948629" y="1375202"/>
            <a:ext cx="3243371" cy="100800"/>
            <a:chOff x="439494" y="3240138"/>
            <a:chExt cx="2025049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198683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39881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1" name="텍스트 개체 틀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2" name="그림 개체 틀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43" name="직선 연결선(S)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텍스트 개체 틀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5" name="텍스트 개체 틀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7" name="텍스트 개체 틀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8" name="텍스트 개체 틀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50" name="텍스트 개체 틀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53" name="텍스트 개체 틀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56" name="직선 연결선(S)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(S)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그림 개체 틀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55" name="그림 개체 틀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46" name="그림 개체 틀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52" name="그림 개체 틀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원형 차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2807627" cy="100800"/>
            <a:chOff x="-1228304" y="3250524"/>
            <a:chExt cx="2807627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272521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478523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42" name="텍스트 개체 틀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43" name="텍스트 개체 틀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45" name="텍스트 개체 틀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46" name="텍스트 개체 틀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48" name="텍스트 개체 틀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49" name="텍스트 개체 틀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 rtl="0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" altLang="en-US" dirty="0">
                <a:solidFill>
                  <a:schemeClr val="bg2">
                    <a:lumMod val="95000"/>
                  </a:schemeClr>
                </a:solidFill>
              </a:rPr>
              <a:t>₩</a:t>
            </a:r>
            <a:r>
              <a:rPr lang="en-US" altLang="ko-KR" noProof="0" dirty="0"/>
              <a:t>1,500,000</a:t>
            </a:r>
          </a:p>
        </p:txBody>
      </p:sp>
      <p:sp>
        <p:nvSpPr>
          <p:cNvPr id="52" name="텍스트 개체 틀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dirty="0"/>
              <a:t>범주 제목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차트 개체 틀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차트를 추가하려면 아이콘을 클릭하십시오</a:t>
            </a:r>
            <a:endParaRPr lang="ko-KR" altLang="en-US" noProof="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연결선(S)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및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그림 개체 틀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5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en-US" noProof="0" dirty="0"/>
          </a:p>
        </p:txBody>
      </p:sp>
      <p:sp>
        <p:nvSpPr>
          <p:cNvPr id="22" name="텍스트 개체 틀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August </a:t>
            </a:r>
            <a:r>
              <a:rPr lang="en-US" altLang="ko-KR" noProof="0" dirty="0" err="1"/>
              <a:t>Bergqvist</a:t>
            </a:r>
            <a:endParaRPr lang="ko-KR" altLang="en-US" noProof="0" dirty="0"/>
          </a:p>
        </p:txBody>
      </p:sp>
      <p:sp>
        <p:nvSpPr>
          <p:cNvPr id="23" name="텍스트 개체 틀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ko-KR" altLang="en-US" noProof="0" dirty="0"/>
              <a:t>전화 번호</a:t>
            </a:r>
            <a:r>
              <a:rPr lang="en-US" altLang="ko-KR" noProof="0" dirty="0"/>
              <a:t>:</a:t>
            </a:r>
            <a:endParaRPr lang="ko-KR" altLang="en-US" noProof="0" dirty="0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+7 888 999-000-11</a:t>
            </a:r>
            <a:endParaRPr lang="ko-KR" altLang="en-US" noProof="0" dirty="0"/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ko-KR" altLang="en-US" noProof="0" dirty="0"/>
              <a:t>전자 메일</a:t>
            </a:r>
            <a:r>
              <a:rPr lang="en-US" altLang="ko-KR" noProof="0" dirty="0"/>
              <a:t>:</a:t>
            </a:r>
            <a:endParaRPr lang="ko-KR" altLang="en-US" noProof="0" dirty="0"/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Bergqvist@vanarsdelltd.com</a:t>
            </a:r>
            <a:endParaRPr lang="ko-KR" altLang="en-US" noProof="0" dirty="0"/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 dirty="0"/>
              <a:t>웹 사이트</a:t>
            </a:r>
            <a:r>
              <a:rPr lang="en-US" altLang="ko-KR" noProof="0" dirty="0"/>
              <a:t>:</a:t>
            </a:r>
            <a:endParaRPr lang="ko-KR" altLang="en-US" noProof="0" dirty="0"/>
          </a:p>
        </p:txBody>
      </p:sp>
      <p:sp>
        <p:nvSpPr>
          <p:cNvPr id="28" name="텍스트 개체 틀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www.vanarsdelltd.com</a:t>
            </a:r>
            <a:endParaRPr lang="ko-KR" altLang="en-US" noProof="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4" y="2750589"/>
            <a:ext cx="3754643" cy="100800"/>
            <a:chOff x="808549" y="2750589"/>
            <a:chExt cx="3754643" cy="10080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9" y="2750589"/>
              <a:ext cx="3682321" cy="100800"/>
              <a:chOff x="1033455" y="3240138"/>
              <a:chExt cx="2400945" cy="100800"/>
            </a:xfrm>
          </p:grpSpPr>
          <p:cxnSp>
            <p:nvCxnSpPr>
              <p:cNvPr id="12" name="직선 연결선(S)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1033455" y="3285674"/>
                <a:ext cx="2350546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ko-KR" altLang="en-US" noProof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4462391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4" y="1660573"/>
            <a:ext cx="3782200" cy="105664"/>
            <a:chOff x="808549" y="2745725"/>
            <a:chExt cx="3782200" cy="10566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9" y="2750589"/>
              <a:ext cx="3682321" cy="100800"/>
              <a:chOff x="1033455" y="3240138"/>
              <a:chExt cx="2400945" cy="100800"/>
            </a:xfrm>
          </p:grpSpPr>
          <p:cxnSp>
            <p:nvCxnSpPr>
              <p:cNvPr id="35" name="직선 연결선(S)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1033455" y="3285674"/>
                <a:ext cx="2350546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ko-KR" altLang="en-US" noProof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4489948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부록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부록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5584502" y="1509426"/>
            <a:ext cx="1023048" cy="100800"/>
            <a:chOff x="5580572" y="1509426"/>
            <a:chExt cx="1023048" cy="10080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5580572" y="1509426"/>
              <a:ext cx="981568" cy="100800"/>
              <a:chOff x="2241269" y="3240138"/>
              <a:chExt cx="640002" cy="100800"/>
            </a:xfrm>
          </p:grpSpPr>
          <p:cxnSp>
            <p:nvCxnSpPr>
              <p:cNvPr id="12" name="직선 연결선(S)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2241269" y="3290538"/>
                <a:ext cx="596207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2815547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ko-KR" altLang="en-US" noProof="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6502819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추천사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 err="1"/>
              <a:t>추천사</a:t>
            </a:r>
            <a:endParaRPr lang="ko-KR" altLang="en-US" noProof="0" dirty="0"/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987698" y="1375202"/>
            <a:ext cx="2204304" cy="100800"/>
            <a:chOff x="675502" y="3240138"/>
            <a:chExt cx="1376298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2" y="3290538"/>
              <a:ext cx="135809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19860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고객 직함</a:t>
            </a:r>
          </a:p>
        </p:txBody>
      </p:sp>
      <p:sp>
        <p:nvSpPr>
          <p:cNvPr id="41" name="텍스트 개체 틀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편집</a:t>
            </a:r>
            <a:br>
              <a:rPr lang="ko-KR" altLang="en-US" noProof="0" dirty="0"/>
            </a:br>
            <a:r>
              <a:rPr lang="ko-KR" altLang="en-US" noProof="0" dirty="0"/>
              <a:t>텍스트</a:t>
            </a:r>
          </a:p>
        </p:txBody>
      </p:sp>
      <p:sp>
        <p:nvSpPr>
          <p:cNvPr id="42" name="그림 개체 틀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43" name="직선 연결선(S)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텍스트 개체 틀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고객 직함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편집</a:t>
            </a:r>
            <a:br>
              <a:rPr lang="ko-KR" altLang="en-US" noProof="0" dirty="0"/>
            </a:br>
            <a:r>
              <a:rPr lang="ko-KR" altLang="en-US" noProof="0" dirty="0"/>
              <a:t>텍스트</a:t>
            </a:r>
          </a:p>
        </p:txBody>
      </p:sp>
      <p:sp>
        <p:nvSpPr>
          <p:cNvPr id="60" name="그림 개체 틀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61" name="직선 연결선(S)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텍스트 개체 틀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고객 직함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편집</a:t>
            </a:r>
            <a:br>
              <a:rPr lang="ko-KR" altLang="en-US" noProof="0" dirty="0"/>
            </a:br>
            <a:r>
              <a:rPr lang="ko-KR" altLang="en-US" noProof="0" dirty="0"/>
              <a:t>텍스트</a:t>
            </a:r>
          </a:p>
        </p:txBody>
      </p:sp>
      <p:sp>
        <p:nvSpPr>
          <p:cNvPr id="66" name="그림 개체 틀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cxnSp>
        <p:nvCxnSpPr>
          <p:cNvPr id="67" name="직선 연결선(S)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텍스트 개체 틀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례 연구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사례 연구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2830814" cy="100800"/>
            <a:chOff x="-1228304" y="3240138"/>
            <a:chExt cx="2830814" cy="100800"/>
          </a:xfrm>
        </p:grpSpPr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275421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50171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연결선(S)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휴대폰 및 콘텐츠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제목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10" name="그림 개체 틀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직선 연결선(S)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7" name="직선 연결선(S)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연결선(S)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 dirty="0"/>
              <a:t>마스터 텍스트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2" name="그림 개체 틀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수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22" name="텍스트 개체 틀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dirty="0"/>
              <a:t>마스터 텍스트</a:t>
            </a:r>
            <a:br>
              <a:rPr lang="ko-KR" altLang="en-US" noProof="0" dirty="0"/>
            </a:br>
            <a:r>
              <a:rPr lang="ko-KR" altLang="en-US" noProof="0" dirty="0"/>
              <a:t>스타일</a:t>
            </a:r>
          </a:p>
        </p:txBody>
      </p:sp>
      <p:sp>
        <p:nvSpPr>
          <p:cNvPr id="23" name="텍스트 개체 틀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24" name="그림 개체 틀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5" name="그림 개체 틀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dirty="0"/>
              <a:t>마스터 텍스트</a:t>
            </a:r>
            <a:br>
              <a:rPr lang="ko-KR" altLang="en-US" noProof="0" dirty="0"/>
            </a:br>
            <a:r>
              <a:rPr lang="ko-KR" altLang="en-US" noProof="0" dirty="0"/>
              <a:t>스타일</a:t>
            </a:r>
          </a:p>
        </p:txBody>
      </p:sp>
      <p:sp>
        <p:nvSpPr>
          <p:cNvPr id="28" name="그림 개체 틀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 dirty="0"/>
              <a:t>마스터 텍스트</a:t>
            </a:r>
            <a:br>
              <a:rPr lang="ko-KR" altLang="en-US" noProof="0" dirty="0"/>
            </a:br>
            <a:r>
              <a:rPr lang="ko-KR" altLang="en-US" noProof="0" dirty="0"/>
              <a:t>스타일</a:t>
            </a:r>
          </a:p>
        </p:txBody>
      </p:sp>
      <p:sp>
        <p:nvSpPr>
          <p:cNvPr id="32" name="텍스트 개체 틀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33" name="텍스트 개체 틀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34" name="텍스트 개체 틀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lvl="0" rtl="0"/>
            <a:r>
              <a:rPr lang="en-US" altLang="ko-KR" noProof="0" dirty="0"/>
              <a:t>1</a:t>
            </a:r>
            <a:endParaRPr lang="ko-KR" altLang="en-US" noProof="0" dirty="0"/>
          </a:p>
        </p:txBody>
      </p:sp>
      <p:sp>
        <p:nvSpPr>
          <p:cNvPr id="36" name="텍스트 개체 틀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noProof="0" dirty="0"/>
              <a:t>1</a:t>
            </a:r>
            <a:endParaRPr lang="ko-KR" altLang="en-US" noProof="0" dirty="0"/>
          </a:p>
        </p:txBody>
      </p:sp>
      <p:sp>
        <p:nvSpPr>
          <p:cNvPr id="37" name="텍스트 개체 틀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noProof="0" dirty="0"/>
              <a:t>1</a:t>
            </a:r>
            <a:endParaRPr lang="ko-KR" altLang="en-US" noProof="0" dirty="0"/>
          </a:p>
        </p:txBody>
      </p:sp>
      <p:sp>
        <p:nvSpPr>
          <p:cNvPr id="40" name="텍스트 개체 틀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38" name="제목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 dirty="0"/>
              <a:t>이 서식 파일을 사용하는 방법</a:t>
            </a:r>
          </a:p>
        </p:txBody>
      </p:sp>
      <p:sp>
        <p:nvSpPr>
          <p:cNvPr id="41" name="그림 개체 틀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직선 연결선(S)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" name="직선 연결선(S)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8" name="직선 연결선(S)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피치</a:t>
            </a:r>
            <a:br>
              <a:rPr lang="ko-KR" altLang="en-US" noProof="0" dirty="0"/>
            </a:br>
            <a:r>
              <a:rPr lang="ko-KR" altLang="en-US" noProof="0" dirty="0" err="1"/>
              <a:t>데크</a:t>
            </a:r>
            <a:br>
              <a:rPr lang="ko-KR" altLang="en-US" noProof="0" dirty="0"/>
            </a:br>
            <a:r>
              <a:rPr lang="ko-KR" altLang="en-US" noProof="0" dirty="0"/>
              <a:t>제목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" name="직선 연결선(S)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" name="직선 연결선(S)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" name="부제목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맑은 고딕" panose="020B0503020000020004" pitchFamily="50" charset="-127"/>
                <a:ea typeface="맑은 고딕" panose="020B0503020000020004" pitchFamily="50" charset="-127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 개의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0" name="내용 개체 틀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MM.DD.20XX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D581BC7-E183-40DB-AC97-C19EA4EB889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89" r:id="rId3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3A554BE-C6B6-40A2-86EF-1CC87F28AE11}"/>
              </a:ext>
            </a:extLst>
          </p:cNvPr>
          <p:cNvSpPr txBox="1">
            <a:spLocks/>
          </p:cNvSpPr>
          <p:nvPr/>
        </p:nvSpPr>
        <p:spPr>
          <a:xfrm>
            <a:off x="2091418" y="722926"/>
            <a:ext cx="8009163" cy="2778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6600" dirty="0"/>
              <a:t>Software development</a:t>
            </a:r>
            <a:endParaRPr lang="ko-KR" altLang="ru-RU" sz="6600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F7649BBD-EDD7-4503-A775-65D74CE4D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9264" y="4760256"/>
            <a:ext cx="3702969" cy="187809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18013312</a:t>
            </a:r>
          </a:p>
          <a:p>
            <a:pPr rtl="0"/>
            <a:r>
              <a:rPr lang="en-US" altLang="ko-KR" sz="3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Jieun</a:t>
            </a:r>
            <a:r>
              <a:rPr lang="en-US" altLang="ko-KR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-Hong</a:t>
            </a:r>
          </a:p>
          <a:p>
            <a:pPr rtl="0"/>
            <a:endParaRPr lang="ko-KR" altLang="ru-RU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오디오 1">
            <a:hlinkClick r:id="" action="ppaction://media"/>
            <a:extLst>
              <a:ext uri="{FF2B5EF4-FFF2-40B4-BE49-F238E27FC236}">
                <a16:creationId xmlns:a16="http://schemas.microsoft.com/office/drawing/2014/main" id="{AE8FEA20-DCD4-48D6-A8A1-BF2A9B8305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93"/>
    </mc:Choice>
    <mc:Fallback>
      <p:transition spd="slow" advTm="30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개체 틀 11" descr="추상적인 배경&#10;">
            <a:extLst>
              <a:ext uri="{FF2B5EF4-FFF2-40B4-BE49-F238E27FC236}">
                <a16:creationId xmlns:a16="http://schemas.microsoft.com/office/drawing/2014/main" id="{403E5740-1FF0-42AF-A459-70BE0BD24F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4B7241-C2B7-4F61-A69C-236E16A5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8" y="722226"/>
            <a:ext cx="7893495" cy="2492461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chemeClr val="tx1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ru-RU" dirty="0">
              <a:solidFill>
                <a:schemeClr val="tx1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부제목 7">
            <a:extLst>
              <a:ext uri="{FF2B5EF4-FFF2-40B4-BE49-F238E27FC236}">
                <a16:creationId xmlns:a16="http://schemas.microsoft.com/office/drawing/2014/main" id="{67785A82-F64D-4246-95D6-FE251DD00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174" y="1288141"/>
            <a:ext cx="5592277" cy="5297544"/>
          </a:xfrm>
        </p:spPr>
        <p:txBody>
          <a:bodyPr/>
          <a:lstStyle/>
          <a:p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Introduction to software development</a:t>
            </a:r>
          </a:p>
          <a:p>
            <a:pPr marL="514350" indent="-514350">
              <a:buAutoNum type="arabicPeriod"/>
            </a:pP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Software development goals and implementation</a:t>
            </a:r>
          </a:p>
          <a:p>
            <a:pPr marL="514350" indent="-514350">
              <a:buAutoNum type="arabicPeriod"/>
            </a:pP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While developing software</a:t>
            </a:r>
          </a:p>
          <a:p>
            <a:pPr marL="514350" indent="-514350">
              <a:buAutoNum type="arabicPeriod"/>
            </a:pP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Software development </a:t>
            </a:r>
            <a:b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</a:b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life cycle model used</a:t>
            </a:r>
          </a:p>
          <a:p>
            <a:pPr marL="514350" indent="-514350">
              <a:buAutoNum type="arabicPeriod"/>
            </a:pP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The importance of teamwork  </a:t>
            </a:r>
            <a:b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</a:br>
            <a:r>
              <a:rPr lang="en-US" altLang="ko-KR" sz="2800" b="0" dirty="0">
                <a:solidFill>
                  <a:schemeClr val="bg2">
                    <a:lumMod val="95000"/>
                  </a:schemeClr>
                </a:solidFill>
                <a:latin typeface="HY강B" panose="02030600000101010101" pitchFamily="18" charset="-127"/>
                <a:ea typeface="HY강B" panose="02030600000101010101" pitchFamily="18" charset="-127"/>
                <a:cs typeface="Aharoni" panose="020B0604020202020204" pitchFamily="2" charset="-79"/>
              </a:rPr>
              <a:t>in the project</a:t>
            </a:r>
            <a:endParaRPr lang="en-US" altLang="ko-KR" b="0" dirty="0">
              <a:solidFill>
                <a:schemeClr val="bg2">
                  <a:lumMod val="95000"/>
                </a:schemeClr>
              </a:solidFill>
              <a:latin typeface="HY강B" panose="02030600000101010101" pitchFamily="18" charset="-127"/>
              <a:ea typeface="HY강B" panose="02030600000101010101" pitchFamily="18" charset="-127"/>
              <a:cs typeface="Aharoni" panose="020B0604020202020204" pitchFamily="2" charset="-79"/>
            </a:endParaRPr>
          </a:p>
          <a:p>
            <a:pPr marL="514350" indent="-514350">
              <a:buAutoNum type="arabicPeriod"/>
            </a:pPr>
            <a:endParaRPr lang="en-US" altLang="ko-KR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altLang="ko-KR" sz="2800" dirty="0">
              <a:solidFill>
                <a:schemeClr val="accent4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>
              <a:buAutoNum type="arabicPeriod"/>
            </a:pPr>
            <a:endParaRPr lang="en-US" altLang="ko-K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82231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 anchor="ctr">
            <a:normAutofit/>
          </a:bodyPr>
          <a:lstStyle/>
          <a:p>
            <a:pPr rtl="0"/>
            <a:r>
              <a:rPr lang="en-US" altLang="ko-K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1. Introduction to software development</a:t>
            </a:r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16836" y="5878720"/>
            <a:ext cx="1336964" cy="29880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altLang="ko-KR"/>
              <a:t>MM.DD.20XX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7D25D-51F0-4AAA-86C5-F3584C0E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0" y="5878720"/>
            <a:ext cx="2915733" cy="29880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ko-KR" altLang="en-US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643" y="5879656"/>
            <a:ext cx="354492" cy="297307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D581BC7-E183-40DB-AC97-C19EA4EB8894}" type="slidenum">
              <a:rPr lang="en-US" altLang="ko-KR" smtClean="0"/>
              <a:pPr rtl="0">
                <a:spcAft>
                  <a:spcPts val="600"/>
                </a:spcAft>
              </a:pPr>
              <a:t>3</a:t>
            </a:fld>
            <a:endParaRPr lang="ko-KR" altLang="en-US"/>
          </a:p>
        </p:txBody>
      </p:sp>
      <p:pic>
        <p:nvPicPr>
          <p:cNvPr id="17" name="그림 개체 틀 19" descr="추상적인 배경&#10;">
            <a:extLst>
              <a:ext uri="{FF2B5EF4-FFF2-40B4-BE49-F238E27FC236}">
                <a16:creationId xmlns:a16="http://schemas.microsoft.com/office/drawing/2014/main" id="{2EB70628-97D8-4498-BE26-E15E7DF6BA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205" y="1159497"/>
            <a:ext cx="2737590" cy="4543719"/>
          </a:xfrm>
          <a:noFill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B0B140-55FC-4020-9BC6-0806251B6D84}"/>
              </a:ext>
            </a:extLst>
          </p:cNvPr>
          <p:cNvSpPr txBox="1"/>
          <p:nvPr/>
        </p:nvSpPr>
        <p:spPr>
          <a:xfrm>
            <a:off x="5253038" y="2117261"/>
            <a:ext cx="61007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What</a:t>
            </a:r>
            <a:r>
              <a:rPr lang="ko-KR" alt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 </a:t>
            </a:r>
            <a:r>
              <a:rPr lang="ko-KR" alt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is</a:t>
            </a:r>
            <a:r>
              <a:rPr lang="ko-KR" alt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 </a:t>
            </a:r>
            <a:r>
              <a:rPr lang="ko-KR" alt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software</a:t>
            </a:r>
            <a:r>
              <a:rPr lang="ko-KR" alt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 </a:t>
            </a:r>
            <a:r>
              <a:rPr lang="ko-KR" alt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develop</a:t>
            </a:r>
            <a:r>
              <a:rPr lang="en-US" altLang="ko-KR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ment</a:t>
            </a:r>
            <a:r>
              <a:rPr lang="en-US" altLang="ko-KR" sz="3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ea typeface="굴림" panose="020B0600000101010101" pitchFamily="50" charset="-127"/>
              </a:rPr>
              <a:t>?</a:t>
            </a:r>
          </a:p>
          <a:p>
            <a:endParaRPr lang="en-US" altLang="ko-KR" sz="3200" dirty="0">
              <a:solidFill>
                <a:schemeClr val="bg2">
                  <a:lumMod val="9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2800" dirty="0">
                <a:solidFill>
                  <a:schemeClr val="bg2">
                    <a:lumMod val="9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Software development is the process of turning market targets or user needs into software products.</a:t>
            </a:r>
          </a:p>
        </p:txBody>
      </p:sp>
    </p:spTree>
    <p:extLst>
      <p:ext uri="{BB962C8B-B14F-4D97-AF65-F5344CB8AC3E}">
        <p14:creationId xmlns:p14="http://schemas.microsoft.com/office/powerpoint/2010/main" val="4080312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479426"/>
            <a:ext cx="10515600" cy="65296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4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reason for developing software..</a:t>
            </a:r>
            <a:endParaRPr lang="ko-KR" altLang="en-US" sz="4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상자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533401" y="2030879"/>
            <a:ext cx="1025366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altLang="ko-KR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While thinking about the inconveniences I felt in my daily life, I tried to solve the inconvenience with software created through development.</a:t>
            </a:r>
          </a:p>
          <a:p>
            <a:pPr rtl="0"/>
            <a:endParaRPr lang="en-US" altLang="ko-KR" sz="2800" b="1" dirty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r>
              <a:rPr lang="en-US" altLang="ko-KR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Not only provides convenience and solutions to groups who felt uncomfortable</a:t>
            </a:r>
          </a:p>
          <a:p>
            <a:pPr rtl="0"/>
            <a:r>
              <a:rPr lang="en-US" altLang="ko-KR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 started a software development project because I could make business results.</a:t>
            </a:r>
            <a:endParaRPr lang="ko-KR" altLang="en-US" sz="2800" b="1" dirty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664" y="2044511"/>
            <a:ext cx="10515600" cy="227723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Software development goals and implementation</a:t>
            </a:r>
            <a:endParaRPr lang="ko-KR" altLang="en-US" sz="4000" dirty="0">
              <a:solidFill>
                <a:schemeClr val="accent4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27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FFA9230-37E2-4CEB-A3E5-B704CE27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algn="l" rtl="0"/>
            <a:r>
              <a:rPr lang="en-US" altLang="ko-KR" i="1" dirty="0">
                <a:solidFill>
                  <a:schemeClr val="tx1"/>
                </a:solidFill>
              </a:rPr>
              <a:t>Mission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br>
              <a:rPr lang="en-US" altLang="ko-KR" dirty="0"/>
            </a:br>
            <a:r>
              <a:rPr lang="en-US" altLang="ko-KR" dirty="0">
                <a:solidFill>
                  <a:schemeClr val="bg2">
                    <a:lumMod val="85000"/>
                  </a:schemeClr>
                </a:solidFill>
              </a:rPr>
              <a:t>Create the No.1 apartment app</a:t>
            </a:r>
            <a:endParaRPr lang="ko-KR" altLang="en-US" dirty="0">
              <a:solidFill>
                <a:schemeClr val="bg2">
                  <a:lumMod val="8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9BE0DA3-3A03-418B-B7CF-0D4107499B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E74A44B-1AAF-44D0-A426-104890F03E2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95991" y="4094888"/>
            <a:ext cx="2944368" cy="328343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Core content reinforcement.</a:t>
            </a:r>
            <a:endParaRPr lang="ko-KR" alt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450AF9-6A8E-4054-A832-F7BF5DA0E16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95991" y="4574564"/>
            <a:ext cx="2944368" cy="141982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Apartment management and bulletin board creation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CC46A248-3DD2-4083-A410-269D3C38BC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2591E4E-87B2-4D64-B582-FBD4968920C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71314" y="4094888"/>
            <a:ext cx="2944368" cy="328343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Reinforcing the community.</a:t>
            </a:r>
            <a:endParaRPr lang="ko-KR" alt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02433E8-0DB5-41D8-8B35-D76C17922FE5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871314" y="4608298"/>
            <a:ext cx="2944368" cy="141982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Creating community bulletin boards on various topics for residents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0DE6855-935C-4D9C-A6CA-A30ED4BC73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BECA94-5E25-4E6D-A58C-7792A89CED7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515702" y="4092990"/>
            <a:ext cx="2944368" cy="328343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Efficient UI implementation.</a:t>
            </a:r>
            <a:endParaRPr lang="ko-KR" alt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A32FF73-A652-43C6-96BD-425851F591BC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8515702" y="4604071"/>
            <a:ext cx="2944368" cy="1237515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 order to make it easy for various age groups to use, the UI should be easy to see.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CD95F8-281D-4A11-99F2-9795C526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F07EF2-7D34-4156-A053-F39C573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바닥글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78012-F4F6-4A2B-827F-796D00EED2B6}"/>
              </a:ext>
            </a:extLst>
          </p:cNvPr>
          <p:cNvSpPr txBox="1"/>
          <p:nvPr/>
        </p:nvSpPr>
        <p:spPr>
          <a:xfrm>
            <a:off x="955888" y="1869498"/>
            <a:ext cx="1742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i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Goal-</a:t>
            </a:r>
          </a:p>
        </p:txBody>
      </p:sp>
    </p:spTree>
    <p:extLst>
      <p:ext uri="{BB962C8B-B14F-4D97-AF65-F5344CB8AC3E}">
        <p14:creationId xmlns:p14="http://schemas.microsoft.com/office/powerpoint/2010/main" val="331017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664" y="2044511"/>
            <a:ext cx="10515600" cy="227723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While developing software... </a:t>
            </a:r>
            <a:endParaRPr lang="ko-KR" altLang="en-US" sz="4000" dirty="0">
              <a:solidFill>
                <a:schemeClr val="accent4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03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DABC3-0DF9-44FF-8C03-FB651A08B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89" y="413253"/>
            <a:ext cx="10515600" cy="130967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The way it was done to achieve maximum performance within a given project period.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B74D24-D98B-4905-81C2-0DEFC4D2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MM.DD.20XX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3535CA-0493-40B9-ACA7-B7A9DF6F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7890B5-DA18-4875-A42E-7797C305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altLang="ko-KR" smtClean="0"/>
              <a:pPr/>
              <a:t>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2A036D-8DB8-4E28-A836-2284C387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643" y="2365856"/>
            <a:ext cx="10515600" cy="3662264"/>
          </a:xfrm>
        </p:spPr>
        <p:txBody>
          <a:bodyPr>
            <a:normAutofit/>
          </a:bodyPr>
          <a:lstStyle/>
          <a:p>
            <a:r>
              <a:rPr lang="en-US" altLang="ko-KR" dirty="0"/>
              <a:t>Organizational structure and division of roles in order to work efficiently</a:t>
            </a:r>
          </a:p>
          <a:p>
            <a:r>
              <a:rPr lang="en-US" altLang="ko-KR" dirty="0"/>
              <a:t>Team management and project planning can be saved by using a website that allows team members to plan work</a:t>
            </a:r>
          </a:p>
          <a:p>
            <a:r>
              <a:rPr lang="en-US" altLang="ko-KR" dirty="0"/>
              <a:t>Documented work and clearly</a:t>
            </a:r>
            <a:r>
              <a:rPr lang="ko-KR" altLang="en-US" dirty="0"/>
              <a:t> </a:t>
            </a:r>
            <a:r>
              <a:rPr lang="en-US" altLang="ko-KR" dirty="0"/>
              <a:t>recorded</a:t>
            </a:r>
          </a:p>
          <a:p>
            <a:r>
              <a:rPr lang="en-US" altLang="ko-KR" dirty="0"/>
              <a:t>Using the platform for effective communication among team members</a:t>
            </a:r>
          </a:p>
        </p:txBody>
      </p:sp>
    </p:spTree>
    <p:extLst>
      <p:ext uri="{BB962C8B-B14F-4D97-AF65-F5344CB8AC3E}">
        <p14:creationId xmlns:p14="http://schemas.microsoft.com/office/powerpoint/2010/main" val="3427885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C0BB0B82-1ACB-4F9B-9FE6-F0B39400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16836" y="5878720"/>
            <a:ext cx="1336964" cy="298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ko-KR"/>
              <a:t>MM.DD.20XX</a:t>
            </a:r>
            <a:endParaRPr lang="ko-KR" altLang="en-US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C63F29C-1FAF-4791-8E6C-EC1026E8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643" y="5879656"/>
            <a:ext cx="354492" cy="297307"/>
          </a:xfrm>
        </p:spPr>
        <p:txBody>
          <a:bodyPr/>
          <a:lstStyle/>
          <a:p>
            <a:pPr>
              <a:spcAft>
                <a:spcPts val="600"/>
              </a:spcAft>
            </a:pPr>
            <a:fld id="{8D581BC7-E183-40DB-AC97-C19EA4EB8894}" type="slidenum">
              <a:rPr lang="en-US" altLang="ko-KR" smtClean="0"/>
              <a:pPr>
                <a:spcAft>
                  <a:spcPts val="600"/>
                </a:spcAft>
              </a:pPr>
              <a:t>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57" y="368136"/>
            <a:ext cx="4453572" cy="1600200"/>
          </a:xfrm>
        </p:spPr>
        <p:txBody>
          <a:bodyPr rtlCol="0" anchor="b">
            <a:normAutofit/>
          </a:bodyPr>
          <a:lstStyle/>
          <a:p>
            <a:pPr rtl="0"/>
            <a:r>
              <a:rPr lang="en-US" altLang="ko-KR" sz="2700" dirty="0">
                <a:solidFill>
                  <a:schemeClr val="bg2">
                    <a:lumMod val="85000"/>
                  </a:schemeClr>
                </a:solidFill>
                <a:latin typeface="Abadi" panose="020B0604020104020204" pitchFamily="34" charset="0"/>
              </a:rPr>
              <a:t>4. Software development </a:t>
            </a:r>
            <a:br>
              <a:rPr lang="en-US" altLang="ko-KR" sz="2700" dirty="0">
                <a:solidFill>
                  <a:schemeClr val="bg2">
                    <a:lumMod val="85000"/>
                  </a:schemeClr>
                </a:solidFill>
                <a:latin typeface="Abadi" panose="020B0604020104020204" pitchFamily="34" charset="0"/>
              </a:rPr>
            </a:br>
            <a:r>
              <a:rPr lang="en-US" altLang="ko-KR" sz="2700" dirty="0">
                <a:solidFill>
                  <a:schemeClr val="bg2">
                    <a:lumMod val="85000"/>
                  </a:schemeClr>
                </a:solidFill>
                <a:latin typeface="Abadi" panose="020B0604020104020204" pitchFamily="34" charset="0"/>
              </a:rPr>
              <a:t>life cycle model used: </a:t>
            </a:r>
            <a:r>
              <a:rPr lang="en-US" altLang="ko-KR" sz="2700" dirty="0">
                <a:solidFill>
                  <a:srgbClr val="00B0F0"/>
                </a:solidFill>
                <a:latin typeface="Abadi" panose="020B0604020104020204" pitchFamily="34" charset="0"/>
              </a:rPr>
              <a:t>waterfall model</a:t>
            </a:r>
            <a:endParaRPr lang="ko-KR" altLang="en-US" sz="2700" dirty="0">
              <a:solidFill>
                <a:srgbClr val="00B0F0"/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8DB00BF-7CE7-48B9-AC41-326CF1B40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5357" y="2341644"/>
            <a:ext cx="4453572" cy="3686476"/>
          </a:xfrm>
        </p:spPr>
        <p:txBody>
          <a:bodyPr>
            <a:normAutofit fontScale="92500" lnSpcReduction="20000"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Waterfall model advantages: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1. It is a classic methodology, 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   and there are many applications.</a:t>
            </a:r>
            <a:endParaRPr lang="ko-KR" altLang="ko-KR" sz="18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2.</a:t>
            </a: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 Easy to understand the whole process.</a:t>
            </a:r>
            <a:endParaRPr lang="ko-KR" altLang="ko-KR" sz="18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1" kern="100" dirty="0">
                <a:solidFill>
                  <a:schemeClr val="tx2">
                    <a:lumMod val="20000"/>
                    <a:lumOff val="80000"/>
                  </a:schemeClr>
                </a:solidFill>
                <a:cs typeface="Arial Unicode MS" panose="020B0604020202020204" pitchFamily="50" charset="-127"/>
              </a:rPr>
              <a:t>3.</a:t>
            </a:r>
            <a:r>
              <a:rPr lang="en-US" altLang="ko-KR" sz="1800" b="1" i="1" kern="100" dirty="0">
                <a:solidFill>
                  <a:schemeClr val="tx2">
                    <a:lumMod val="20000"/>
                    <a:lumOff val="80000"/>
                  </a:schemeClr>
                </a:solidFill>
                <a:cs typeface="Arial Unicode MS" panose="020B0604020202020204" pitchFamily="50" charset="-127"/>
              </a:rPr>
              <a:t> </a:t>
            </a: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The understanding of the current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    stage is quick and easy.</a:t>
            </a:r>
            <a:endParaRPr lang="ko-KR" altLang="ko-KR" sz="18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1" kern="100" dirty="0">
                <a:solidFill>
                  <a:schemeClr val="tx2">
                    <a:lumMod val="20000"/>
                    <a:lumOff val="80000"/>
                  </a:schemeClr>
                </a:solidFill>
                <a:cs typeface="Arial Unicode MS" panose="020B0604020202020204" pitchFamily="50" charset="-127"/>
              </a:rPr>
              <a:t>4.</a:t>
            </a: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cs typeface="Arial Unicode MS" panose="020B0604020202020204" pitchFamily="50" charset="-127"/>
              </a:rPr>
              <a:t> </a:t>
            </a: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It is easy to manage and </a:t>
            </a:r>
          </a:p>
          <a:p>
            <a:pPr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Arial Unicode MS" panose="020B0604020202020204" pitchFamily="50" charset="-127"/>
              </a:rPr>
              <a:t>    apply documents and outputs.</a:t>
            </a:r>
            <a:endParaRPr lang="ko-KR" altLang="ko-KR" sz="18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" name="그림 2" descr="폭포수 모델 (water fall)">
            <a:extLst>
              <a:ext uri="{FF2B5EF4-FFF2-40B4-BE49-F238E27FC236}">
                <a16:creationId xmlns:a16="http://schemas.microsoft.com/office/drawing/2014/main" id="{CD78A391-49E8-402B-AC5F-3DF8635F68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4219" y="680480"/>
            <a:ext cx="5919788" cy="49373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912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we develop teamwork...</a:t>
            </a: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4000" dirty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The importance of teamwork  </a:t>
            </a:r>
            <a:br>
              <a:rPr lang="en-US" altLang="ko-KR" sz="4000" dirty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4000" dirty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in the project</a:t>
            </a: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700" i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we develop teamwork...</a:t>
            </a: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ko-KR" altLang="en-US" sz="4000" dirty="0">
              <a:solidFill>
                <a:schemeClr val="accent4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794D5CD-54CA-40FB-A39B-9F137C401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3487"/>
            <a:ext cx="9585960" cy="2811907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While the team's project deliverables are good, the project can lower costs and reduce schedules.</a:t>
            </a:r>
            <a:endParaRPr lang="en-US" altLang="ko-KR" sz="800" dirty="0"/>
          </a:p>
          <a:p>
            <a:r>
              <a:rPr lang="en-US" altLang="ko-KR" dirty="0"/>
              <a:t>The morale of the team members is increased and the conflict of the team can be reduced.</a:t>
            </a:r>
            <a:endParaRPr lang="en-US" altLang="ko-KR" sz="800" dirty="0"/>
          </a:p>
          <a:p>
            <a:r>
              <a:rPr lang="en-US" altLang="ko-KR" dirty="0"/>
              <a:t>Team members can participate in this decision making to improve the productivity of the team, resulting in more effective and efficient project results.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88B6C-3BA7-4FC2-A859-973D6BDD6FDB}"/>
              </a:ext>
            </a:extLst>
          </p:cNvPr>
          <p:cNvSpPr txBox="1"/>
          <p:nvPr/>
        </p:nvSpPr>
        <p:spPr>
          <a:xfrm>
            <a:off x="838200" y="5511235"/>
            <a:ext cx="93942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-&gt;</a:t>
            </a:r>
            <a:r>
              <a:rPr lang="en-US" altLang="ko-KR" sz="2400" b="1" dirty="0"/>
              <a:t>Through the development of teamwork, the team was able to work effectively.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2119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72" y="3012706"/>
            <a:ext cx="10260530" cy="3034441"/>
          </a:xfrm>
        </p:spPr>
        <p:txBody>
          <a:bodyPr rtlCol="0">
            <a:normAutofit fontScale="90000"/>
          </a:bodyPr>
          <a:lstStyle/>
          <a:p>
            <a: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If this app is adopted by many apartments and used as an official apartment app,</a:t>
            </a:r>
            <a:b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b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-The apartment administration department will be able to quickly and easily notify the residents of the news.</a:t>
            </a:r>
            <a:b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lang="en-US" altLang="ko-KR" b="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-Residents will have an opportunity to communicate with many residents in the apartment by using the community bulletin board in the app.</a:t>
            </a:r>
            <a:br>
              <a:rPr lang="en-US" altLang="ko-KR" sz="4000" dirty="0">
                <a:solidFill>
                  <a:schemeClr val="accent4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ko-KR" altLang="en-US" sz="3100" b="0" dirty="0">
              <a:solidFill>
                <a:schemeClr val="accent4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00BA1-7723-4DD8-8B51-18076EBD485A}"/>
              </a:ext>
            </a:extLst>
          </p:cNvPr>
          <p:cNvSpPr txBox="1"/>
          <p:nvPr/>
        </p:nvSpPr>
        <p:spPr>
          <a:xfrm>
            <a:off x="789272" y="435073"/>
            <a:ext cx="1061666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</a:t>
            </a:r>
            <a:r>
              <a:rPr lang="ko-KR" altLang="en-US" sz="3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esult</a:t>
            </a:r>
            <a:r>
              <a:rPr lang="en-US" altLang="ko-KR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3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3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Through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an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made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during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software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development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  <a:endParaRPr lang="ko-KR" altLang="en-US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7665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53F70E9-6111-446A-BD49-B6A996FA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43" y="680480"/>
            <a:ext cx="10515600" cy="652969"/>
          </a:xfrm>
        </p:spPr>
        <p:txBody>
          <a:bodyPr rtlCol="0" anchor="ctr">
            <a:norm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</a:rPr>
              <a:t>At the end of the project...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CC7CD0-CDEF-499B-929F-253562EB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16836" y="5878720"/>
            <a:ext cx="1336964" cy="29880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altLang="ko-KR"/>
              <a:t>MM.DD.20XX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32CBFD-8EB3-4D94-8FDF-C4198EF1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0" y="5878720"/>
            <a:ext cx="2915733" cy="29880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ko-KR" altLang="en-US"/>
              <a:t>바닥글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EB9F42-DBAC-4200-A2A6-96F4D943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643" y="5879656"/>
            <a:ext cx="354492" cy="297307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D581BC7-E183-40DB-AC97-C19EA4EB8894}" type="slidenum">
              <a:rPr lang="en-US" altLang="ko-KR" smtClean="0"/>
              <a:pPr rtl="0">
                <a:spcAft>
                  <a:spcPts val="600"/>
                </a:spcAft>
              </a:pPr>
              <a:t>12</a:t>
            </a:fld>
            <a:endParaRPr lang="ko-KR" alt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D247FB20-C1CF-4080-B9EA-34602E596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8643" y="1834088"/>
            <a:ext cx="10575157" cy="1076213"/>
          </a:xfrm>
        </p:spPr>
        <p:txBody>
          <a:bodyPr>
            <a:normAutofit fontScale="40000" lnSpcReduction="20000"/>
          </a:bodyPr>
          <a:lstStyle/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함초롬바탕" panose="02030504000101010101" pitchFamily="18" charset="-127"/>
              </a:rPr>
              <a:t>I have felt a lot through my software development project.</a:t>
            </a:r>
            <a:endParaRPr lang="en-US" altLang="ko-KR" sz="1800" kern="0" spc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US" altLang="ko-KR" sz="7400" kern="0" spc="0" dirty="0">
                <a:solidFill>
                  <a:schemeClr val="bg2">
                    <a:lumMod val="85000"/>
                  </a:schemeClr>
                </a:solidFill>
                <a:effectLst/>
                <a:latin typeface="+mj-lt"/>
                <a:ea typeface="굴림" panose="020B0600000101010101" pitchFamily="50" charset="-127"/>
              </a:rPr>
              <a:t>I</a:t>
            </a:r>
            <a:r>
              <a:rPr lang="en-US" altLang="ko-KR" sz="7400" kern="0" spc="0" dirty="0">
                <a:solidFill>
                  <a:srgbClr val="000000"/>
                </a:solidFill>
                <a:effectLst/>
                <a:latin typeface="+mj-lt"/>
                <a:ea typeface="굴림" panose="020B0600000101010101" pitchFamily="50" charset="-127"/>
              </a:rPr>
              <a:t> </a:t>
            </a:r>
            <a:r>
              <a:rPr lang="en-US" altLang="ko-KR" sz="7400" kern="0" spc="0" dirty="0">
                <a:solidFill>
                  <a:schemeClr val="bg2">
                    <a:lumMod val="85000"/>
                  </a:schemeClr>
                </a:solidFill>
                <a:effectLst/>
                <a:latin typeface="+mj-lt"/>
                <a:ea typeface="굴림" panose="020B0600000101010101" pitchFamily="50" charset="-127"/>
              </a:rPr>
              <a:t>have felt a lot through my software development project.</a:t>
            </a:r>
          </a:p>
          <a:p>
            <a:pPr marL="0" indent="0">
              <a:buNone/>
            </a:pPr>
            <a:endParaRPr lang="en-US" altLang="ko-KR" sz="2400" i="1" kern="0" spc="0" dirty="0">
              <a:solidFill>
                <a:schemeClr val="bg2">
                  <a:lumMod val="85000"/>
                </a:schemeClr>
              </a:solidFill>
              <a:effectLst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i="1" kern="0" spc="0" dirty="0">
                <a:solidFill>
                  <a:srgbClr val="000000"/>
                </a:solidFill>
                <a:effectLst/>
                <a:latin typeface="함초롬바탕" panose="02030504000101010101" pitchFamily="18" charset="-127"/>
              </a:rPr>
              <a:t>.</a:t>
            </a:r>
            <a:endParaRPr lang="en-US" altLang="ko-KR" sz="1800" i="1" kern="0" spc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altLang="ko-KR" sz="1800" kern="0" spc="0" dirty="0">
              <a:solidFill>
                <a:schemeClr val="bg2">
                  <a:lumMod val="85000"/>
                </a:schemeClr>
              </a:solidFill>
              <a:effectLst/>
            </a:endParaRPr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99BB295C-0C95-4B12-AD48-12D66FBCC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643" y="2964581"/>
            <a:ext cx="10515600" cy="3662264"/>
          </a:xfrm>
        </p:spPr>
        <p:txBody>
          <a:bodyPr>
            <a:normAutofit/>
          </a:bodyPr>
          <a:lstStyle/>
          <a:p>
            <a:r>
              <a:rPr lang="en-US" altLang="ko-KR" kern="0" spc="0" dirty="0">
                <a:solidFill>
                  <a:schemeClr val="bg2">
                    <a:lumMod val="95000"/>
                  </a:schemeClr>
                </a:solidFill>
                <a:effectLst/>
              </a:rPr>
              <a:t>That software development requires many people's cooperation and efforts.</a:t>
            </a:r>
          </a:p>
          <a:p>
            <a:r>
              <a:rPr lang="en-US" altLang="ko-KR" kern="0" spc="0" dirty="0">
                <a:solidFill>
                  <a:schemeClr val="bg2">
                    <a:lumMod val="95000"/>
                  </a:schemeClr>
                </a:solidFill>
                <a:effectLst/>
              </a:rPr>
              <a:t>When working on a project, it is important to have good communication with team members and stakeholders. </a:t>
            </a:r>
          </a:p>
          <a:p>
            <a:r>
              <a:rPr lang="en-US" altLang="ko-KR" kern="0" spc="0" dirty="0">
                <a:solidFill>
                  <a:schemeClr val="bg2">
                    <a:lumMod val="95000"/>
                  </a:schemeClr>
                </a:solidFill>
                <a:effectLst/>
              </a:rPr>
              <a:t>Planning and procedures are important in doing a project, and a lot of documents have to be written while working on a project.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chemeClr val="bg2">
                    <a:lumMod val="95000"/>
                  </a:schemeClr>
                </a:solidFill>
                <a:effectLst/>
              </a:rPr>
              <a:t> The key to software development is to produce maximum results with minimum cost.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kern="0" spc="0" dirty="0">
                <a:solidFill>
                  <a:schemeClr val="bg2">
                    <a:lumMod val="95000"/>
                  </a:schemeClr>
                </a:solidFill>
                <a:effectLst/>
              </a:rPr>
              <a:t> etc..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223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2F9A33A-E955-4DFB-9469-3FDBA670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개체 틀 14" descr="추상적인 배경">
            <a:extLst>
              <a:ext uri="{FF2B5EF4-FFF2-40B4-BE49-F238E27FC236}">
                <a16:creationId xmlns:a16="http://schemas.microsoft.com/office/drawing/2014/main" id="{72AD0CC3-F8DE-4C10-916A-24BC65B1D28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567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55179_TF56488565.potx" id="{ECCE9C98-4AA9-4226-944D-3D010CF1F0CD}" vid="{BA3803C4-E23E-416B-88FB-4D63E7183CC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644</Words>
  <Application>Microsoft Office PowerPoint</Application>
  <PresentationFormat>와이드스크린</PresentationFormat>
  <Paragraphs>92</Paragraphs>
  <Slides>13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HY강B</vt:lpstr>
      <vt:lpstr>굴림</vt:lpstr>
      <vt:lpstr>맑은 고딕</vt:lpstr>
      <vt:lpstr>함초롬바탕</vt:lpstr>
      <vt:lpstr>Abadi</vt:lpstr>
      <vt:lpstr>Arial</vt:lpstr>
      <vt:lpstr>Courier New</vt:lpstr>
      <vt:lpstr>Gill Sans MT</vt:lpstr>
      <vt:lpstr>Segoe UI Light</vt:lpstr>
      <vt:lpstr>Office 테마</vt:lpstr>
      <vt:lpstr>PowerPoint 프레젠테이션</vt:lpstr>
      <vt:lpstr>Contents</vt:lpstr>
      <vt:lpstr>1. Introduction to software development</vt:lpstr>
      <vt:lpstr>The reason for developing software..</vt:lpstr>
      <vt:lpstr>2. Software development goals and implementation</vt:lpstr>
      <vt:lpstr>Mission. Create the No.1 apartment app</vt:lpstr>
      <vt:lpstr>3. While developing software... </vt:lpstr>
      <vt:lpstr>The way it was done to achieve maximum performance within a given project period.</vt:lpstr>
      <vt:lpstr>4. Software development  life cycle model used: waterfall model</vt:lpstr>
      <vt:lpstr>When we develop teamwork...    5. The importance of teamwork       in the project  When we develop teamwork...  </vt:lpstr>
      <vt:lpstr>If this app is adopted by many apartments and used as an official apartment app,  -The apartment administration department will be able to quickly and easily notify the residents of the news. -Residents will have an opportunity to communicate with many residents in the apartment by using the community bulletin board in the app. </vt:lpstr>
      <vt:lpstr>At the end of the project...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홍지은</dc:creator>
  <cp:lastModifiedBy>홍지은</cp:lastModifiedBy>
  <cp:revision>6</cp:revision>
  <dcterms:created xsi:type="dcterms:W3CDTF">2020-12-05T22:36:46Z</dcterms:created>
  <dcterms:modified xsi:type="dcterms:W3CDTF">2020-12-06T05:30:07Z</dcterms:modified>
</cp:coreProperties>
</file>